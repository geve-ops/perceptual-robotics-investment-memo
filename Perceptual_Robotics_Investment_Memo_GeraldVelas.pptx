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6"/>
  </p:notesMasterIdLst>
  <p:sldIdLst>
    <p:sldId id="256" r:id="rId3"/>
    <p:sldId id="259" r:id="rId4"/>
    <p:sldId id="262" r:id="rId5"/>
    <p:sldId id="265" r:id="rId6"/>
    <p:sldId id="291" r:id="rId7"/>
    <p:sldId id="266" r:id="rId8"/>
    <p:sldId id="296" r:id="rId9"/>
    <p:sldId id="292" r:id="rId10"/>
    <p:sldId id="290" r:id="rId11"/>
    <p:sldId id="297" r:id="rId12"/>
    <p:sldId id="267" r:id="rId13"/>
    <p:sldId id="295" r:id="rId14"/>
    <p:sldId id="269" r:id="rId15"/>
  </p:sldIdLst>
  <p:sldSz cx="9144000" cy="5143500" type="screen16x9"/>
  <p:notesSz cx="6858000" cy="9144000"/>
  <p:embeddedFontLst>
    <p:embeddedFont>
      <p:font typeface="Archivo" panose="020B060402020202020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Raleway" pitchFamily="2" charset="0"/>
      <p:regular r:id="rId29"/>
      <p:bold r:id="rId30"/>
      <p:italic r:id="rId31"/>
      <p:boldItalic r:id="rId32"/>
    </p:embeddedFont>
    <p:embeddedFont>
      <p:font typeface="Red Hat Mono" panose="020B0604020202020204" charset="0"/>
      <p:regular r:id="rId33"/>
      <p:bold r:id="rId34"/>
      <p:italic r:id="rId35"/>
      <p:boldItalic r:id="rId36"/>
    </p:embeddedFont>
    <p:embeddedFont>
      <p:font typeface="VT323" panose="020B0604020202020204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0CFDF7-ABB7-42B0-BD29-175E4D2F782A}">
  <a:tblStyle styleId="{EC0CFDF7-ABB7-42B0-BD29-175E4D2F78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4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viewProps" Target="viewProp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8ba4015d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f8ba4015d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e1d838b627_4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e1d838b627_4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fb61485a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3fb61485a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>
            <a:off x="1457611" y="-3227699"/>
            <a:ext cx="9692323" cy="83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3000" y="1899963"/>
            <a:ext cx="31740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 b="0" i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66200" y="2389438"/>
            <a:ext cx="1696800" cy="85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idx="2"/>
          </p:nvPr>
        </p:nvSpPr>
        <p:spPr>
          <a:xfrm>
            <a:off x="5182500" y="449702"/>
            <a:ext cx="2308500" cy="42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19100" b="0" i="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>
            <a:off x="-402625" y="1369750"/>
            <a:ext cx="7337952" cy="57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256688" y="2401800"/>
            <a:ext cx="4658700" cy="52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0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228600" y="1498357"/>
            <a:ext cx="3009300" cy="206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7100" b="0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pic>
        <p:nvPicPr>
          <p:cNvPr id="20" name="Google Shape;20;p4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-7459296">
            <a:off x="6267849" y="-814076"/>
            <a:ext cx="7337954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1987354" y="1276075"/>
            <a:ext cx="5169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1987354" y="3220595"/>
            <a:ext cx="5169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1987350" y="1756451"/>
            <a:ext cx="5169300" cy="8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1987350" y="3700970"/>
            <a:ext cx="5169300" cy="8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pic>
        <p:nvPicPr>
          <p:cNvPr id="27" name="Google Shape;27;p5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-10530784">
            <a:off x="-3574327" y="90649"/>
            <a:ext cx="7337953" cy="573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228600" y="344189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6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>
            <a:off x="-4048425" y="16685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35" name="Google Shape;35;p7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>
            <a:off x="-2840400" y="296370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6267889">
            <a:off x="762674" y="-3144201"/>
            <a:ext cx="7337953" cy="573915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" name="Google Shape;43;p9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flipH="1">
            <a:off x="1806050" y="323160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1227119" y="3685304"/>
            <a:ext cx="22929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0" name="Google Shape;50;p11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>
            <a:off x="5048950" y="-297825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 rot="4322965">
            <a:off x="2675537" y="1282750"/>
            <a:ext cx="9692323" cy="83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220209" y="504648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1220209" y="1451585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3"/>
          </p:nvPr>
        </p:nvSpPr>
        <p:spPr>
          <a:xfrm>
            <a:off x="1220209" y="2398521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4"/>
          </p:nvPr>
        </p:nvSpPr>
        <p:spPr>
          <a:xfrm>
            <a:off x="1220209" y="3345458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5"/>
          </p:nvPr>
        </p:nvSpPr>
        <p:spPr>
          <a:xfrm>
            <a:off x="5314804" y="504648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6"/>
          </p:nvPr>
        </p:nvSpPr>
        <p:spPr>
          <a:xfrm>
            <a:off x="5314804" y="1451593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7"/>
          </p:nvPr>
        </p:nvSpPr>
        <p:spPr>
          <a:xfrm>
            <a:off x="5314804" y="2398539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8"/>
          </p:nvPr>
        </p:nvSpPr>
        <p:spPr>
          <a:xfrm>
            <a:off x="5314804" y="3345484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hasCustomPrompt="1"/>
          </p:nvPr>
        </p:nvSpPr>
        <p:spPr>
          <a:xfrm>
            <a:off x="521691" y="3465371"/>
            <a:ext cx="7122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9" hasCustomPrompt="1"/>
          </p:nvPr>
        </p:nvSpPr>
        <p:spPr>
          <a:xfrm>
            <a:off x="521692" y="1571283"/>
            <a:ext cx="7122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3" hasCustomPrompt="1"/>
          </p:nvPr>
        </p:nvSpPr>
        <p:spPr>
          <a:xfrm>
            <a:off x="522373" y="624538"/>
            <a:ext cx="7107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4" hasCustomPrompt="1"/>
          </p:nvPr>
        </p:nvSpPr>
        <p:spPr>
          <a:xfrm>
            <a:off x="521691" y="2518327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5" hasCustomPrompt="1"/>
          </p:nvPr>
        </p:nvSpPr>
        <p:spPr>
          <a:xfrm>
            <a:off x="4627489" y="1571508"/>
            <a:ext cx="7122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6" hasCustomPrompt="1"/>
          </p:nvPr>
        </p:nvSpPr>
        <p:spPr>
          <a:xfrm>
            <a:off x="4627487" y="2518452"/>
            <a:ext cx="7122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7" hasCustomPrompt="1"/>
          </p:nvPr>
        </p:nvSpPr>
        <p:spPr>
          <a:xfrm>
            <a:off x="4627489" y="3465396"/>
            <a:ext cx="7122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8" hasCustomPrompt="1"/>
          </p:nvPr>
        </p:nvSpPr>
        <p:spPr>
          <a:xfrm>
            <a:off x="4627489" y="624563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9"/>
          </p:nvPr>
        </p:nvSpPr>
        <p:spPr>
          <a:xfrm>
            <a:off x="228600" y="4352104"/>
            <a:ext cx="8687100" cy="54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417350" y="2615513"/>
            <a:ext cx="6309300" cy="16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1417350" y="910088"/>
            <a:ext cx="5262000" cy="15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5700"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4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-5111130">
            <a:off x="5582875" y="-1103551"/>
            <a:ext cx="7337952" cy="573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>
            <a:off x="171450" y="-1813500"/>
            <a:ext cx="7337952" cy="57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228600" y="3276000"/>
            <a:ext cx="3710400" cy="16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228600" y="342150"/>
            <a:ext cx="3710400" cy="178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>
            <a:spLocks noGrp="1"/>
          </p:cNvSpPr>
          <p:nvPr>
            <p:ph type="pic" idx="2"/>
          </p:nvPr>
        </p:nvSpPr>
        <p:spPr>
          <a:xfrm>
            <a:off x="4306500" y="0"/>
            <a:ext cx="4837500" cy="5143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16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 rot="2517579">
            <a:off x="3900887" y="-3385324"/>
            <a:ext cx="9692321" cy="8371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017726" y="2519050"/>
            <a:ext cx="59118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2"/>
          </p:nvPr>
        </p:nvSpPr>
        <p:spPr>
          <a:xfrm>
            <a:off x="2017425" y="1205425"/>
            <a:ext cx="59118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3"/>
          </p:nvPr>
        </p:nvSpPr>
        <p:spPr>
          <a:xfrm>
            <a:off x="2017752" y="3832400"/>
            <a:ext cx="59118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 hasCustomPrompt="1"/>
          </p:nvPr>
        </p:nvSpPr>
        <p:spPr>
          <a:xfrm>
            <a:off x="1214429" y="2702041"/>
            <a:ext cx="930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 idx="4" hasCustomPrompt="1"/>
          </p:nvPr>
        </p:nvSpPr>
        <p:spPr>
          <a:xfrm>
            <a:off x="1214834" y="1388566"/>
            <a:ext cx="9285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title" idx="5" hasCustomPrompt="1"/>
          </p:nvPr>
        </p:nvSpPr>
        <p:spPr>
          <a:xfrm>
            <a:off x="1215241" y="4015391"/>
            <a:ext cx="9303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0" name="Google Shape;90;p17"/>
          <p:cNvSpPr txBox="1">
            <a:spLocks noGrp="1"/>
          </p:cNvSpPr>
          <p:nvPr>
            <p:ph type="title" idx="6"/>
          </p:nvPr>
        </p:nvSpPr>
        <p:spPr>
          <a:xfrm>
            <a:off x="228600" y="342540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pic>
        <p:nvPicPr>
          <p:cNvPr id="91" name="Google Shape;91;p17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-10530784">
            <a:off x="5058896" y="980700"/>
            <a:ext cx="7337953" cy="573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6483983">
            <a:off x="2395549" y="-3969550"/>
            <a:ext cx="7337953" cy="57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>
            <a:spLocks noGrp="1"/>
          </p:cNvSpPr>
          <p:nvPr>
            <p:ph type="subTitle" idx="1"/>
          </p:nvPr>
        </p:nvSpPr>
        <p:spPr>
          <a:xfrm>
            <a:off x="575159" y="2020702"/>
            <a:ext cx="23811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2"/>
          </p:nvPr>
        </p:nvSpPr>
        <p:spPr>
          <a:xfrm>
            <a:off x="3381450" y="2020702"/>
            <a:ext cx="23811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3"/>
          </p:nvPr>
        </p:nvSpPr>
        <p:spPr>
          <a:xfrm>
            <a:off x="575159" y="3809380"/>
            <a:ext cx="23811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4"/>
          </p:nvPr>
        </p:nvSpPr>
        <p:spPr>
          <a:xfrm>
            <a:off x="3381450" y="3809380"/>
            <a:ext cx="23811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subTitle" idx="5"/>
          </p:nvPr>
        </p:nvSpPr>
        <p:spPr>
          <a:xfrm>
            <a:off x="6187747" y="2020702"/>
            <a:ext cx="23811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ubTitle" idx="6"/>
          </p:nvPr>
        </p:nvSpPr>
        <p:spPr>
          <a:xfrm>
            <a:off x="6187747" y="3809380"/>
            <a:ext cx="23811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title" hasCustomPrompt="1"/>
          </p:nvPr>
        </p:nvSpPr>
        <p:spPr>
          <a:xfrm>
            <a:off x="6945397" y="3388303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8"/>
          <p:cNvSpPr txBox="1">
            <a:spLocks noGrp="1"/>
          </p:cNvSpPr>
          <p:nvPr>
            <p:ph type="title" idx="7" hasCustomPrompt="1"/>
          </p:nvPr>
        </p:nvSpPr>
        <p:spPr>
          <a:xfrm>
            <a:off x="6945397" y="1609577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8"/>
          <p:cNvSpPr txBox="1">
            <a:spLocks noGrp="1"/>
          </p:cNvSpPr>
          <p:nvPr>
            <p:ph type="title" idx="8" hasCustomPrompt="1"/>
          </p:nvPr>
        </p:nvSpPr>
        <p:spPr>
          <a:xfrm>
            <a:off x="4139850" y="1609877"/>
            <a:ext cx="8643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3" name="Google Shape;103;p18"/>
          <p:cNvSpPr txBox="1">
            <a:spLocks noGrp="1"/>
          </p:cNvSpPr>
          <p:nvPr>
            <p:ph type="title" idx="9" hasCustomPrompt="1"/>
          </p:nvPr>
        </p:nvSpPr>
        <p:spPr>
          <a:xfrm>
            <a:off x="4139100" y="3388303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type="title" idx="13" hasCustomPrompt="1"/>
          </p:nvPr>
        </p:nvSpPr>
        <p:spPr>
          <a:xfrm>
            <a:off x="1332809" y="1609577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title" idx="14" hasCustomPrompt="1"/>
          </p:nvPr>
        </p:nvSpPr>
        <p:spPr>
          <a:xfrm>
            <a:off x="1332809" y="3388304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6" name="Google Shape;106;p18"/>
          <p:cNvSpPr txBox="1">
            <a:spLocks noGrp="1"/>
          </p:cNvSpPr>
          <p:nvPr>
            <p:ph type="title" idx="15"/>
          </p:nvPr>
        </p:nvSpPr>
        <p:spPr>
          <a:xfrm>
            <a:off x="228600" y="329146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 hasCustomPrompt="1"/>
          </p:nvPr>
        </p:nvSpPr>
        <p:spPr>
          <a:xfrm>
            <a:off x="1416750" y="552438"/>
            <a:ext cx="6310500" cy="12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10900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9" name="Google Shape;109;p19"/>
          <p:cNvSpPr txBox="1">
            <a:spLocks noGrp="1"/>
          </p:cNvSpPr>
          <p:nvPr>
            <p:ph type="subTitle" idx="1"/>
          </p:nvPr>
        </p:nvSpPr>
        <p:spPr>
          <a:xfrm>
            <a:off x="1416750" y="1725933"/>
            <a:ext cx="63105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 idx="2" hasCustomPrompt="1"/>
          </p:nvPr>
        </p:nvSpPr>
        <p:spPr>
          <a:xfrm>
            <a:off x="1416750" y="2969413"/>
            <a:ext cx="6310500" cy="12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10900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3"/>
          </p:nvPr>
        </p:nvSpPr>
        <p:spPr>
          <a:xfrm>
            <a:off x="1416750" y="4142860"/>
            <a:ext cx="63105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2" name="Google Shape;112;p19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-4120674">
            <a:off x="3828749" y="1924052"/>
            <a:ext cx="7337950" cy="573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1163850" y="1130000"/>
            <a:ext cx="3578100" cy="67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1"/>
          </p:nvPr>
        </p:nvSpPr>
        <p:spPr>
          <a:xfrm>
            <a:off x="1163850" y="1778320"/>
            <a:ext cx="28182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7" name="Google Shape;117;p20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 rot="-6250088">
            <a:off x="5539411" y="-907324"/>
            <a:ext cx="9692322" cy="83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 rot="-6250088">
            <a:off x="-3836764" y="-3130824"/>
            <a:ext cx="9692322" cy="83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 rot="-6250088">
            <a:off x="1293336" y="767001"/>
            <a:ext cx="9692322" cy="83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26"/>
          <p:cNvSpPr txBox="1">
            <a:spLocks noGrp="1"/>
          </p:cNvSpPr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title" idx="2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google.com/spreadsheets/d/1NBNgUi54JwjjWDwPTJNOFUQxAa4To20KyzXZ0GsIQk8/copy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NBNgUi54JwjjWDwPTJNOFUQxAa4To20KyzXZ0GsIQk8/cop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Title background with 2026" descr="Gradient background with 2026 in pixel typ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7" name="Google Shape;137;p27"/>
          <p:cNvSpPr txBox="1">
            <a:spLocks noGrp="1"/>
          </p:cNvSpPr>
          <p:nvPr>
            <p:ph type="ctrTitle"/>
          </p:nvPr>
        </p:nvSpPr>
        <p:spPr>
          <a:xfrm>
            <a:off x="1521294" y="1611278"/>
            <a:ext cx="3833400" cy="12824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273B7B"/>
                </a:solidFill>
              </a:rPr>
              <a:t>PERCEPTUAL ROBOTICS</a:t>
            </a:r>
            <a:endParaRPr sz="4000" dirty="0">
              <a:solidFill>
                <a:srgbClr val="273B7B"/>
              </a:solidFill>
            </a:endParaRPr>
          </a:p>
        </p:txBody>
      </p:sp>
      <p:sp>
        <p:nvSpPr>
          <p:cNvPr id="138" name="Google Shape;138;p27"/>
          <p:cNvSpPr txBox="1">
            <a:spLocks noGrp="1"/>
          </p:cNvSpPr>
          <p:nvPr>
            <p:ph type="subTitle" idx="1"/>
          </p:nvPr>
        </p:nvSpPr>
        <p:spPr>
          <a:xfrm>
            <a:off x="686017" y="3158460"/>
            <a:ext cx="4151844" cy="8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VC Investment Memo: Wind Turbine Inspection</a:t>
            </a:r>
            <a:endParaRPr dirty="0"/>
          </a:p>
        </p:txBody>
      </p:sp>
      <p:sp>
        <p:nvSpPr>
          <p:cNvPr id="140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  <p:pic>
        <p:nvPicPr>
          <p:cNvPr id="142" name="Company logo" descr="Perceptual Robotics logo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62" y="1740756"/>
            <a:ext cx="668359" cy="877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>
            <a:spLocks noGrp="1"/>
          </p:cNvSpPr>
          <p:nvPr>
            <p:ph type="title"/>
          </p:nvPr>
        </p:nvSpPr>
        <p:spPr>
          <a:xfrm>
            <a:off x="228600" y="342150"/>
            <a:ext cx="3710400" cy="17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PERCEPTUAL ROBOTICS AT A GLANCE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body" idx="1"/>
          </p:nvPr>
        </p:nvSpPr>
        <p:spPr>
          <a:xfrm>
            <a:off x="285956" y="2044981"/>
            <a:ext cx="3595688" cy="2265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Autonomous drones and AI for wind turbine blade inspection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24130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dirty="0">
                <a:solidFill>
                  <a:schemeClr val="dk1"/>
                </a:solidFill>
              </a:rPr>
              <a:t>Bristol and Athens, founded 2016</a:t>
            </a:r>
          </a:p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dirty="0">
              <a:solidFill>
                <a:schemeClr val="dk1"/>
              </a:solidFill>
            </a:endParaRPr>
          </a:p>
          <a:p>
            <a:pPr marL="24130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dirty="0">
                <a:solidFill>
                  <a:schemeClr val="dk1"/>
                </a:solidFill>
              </a:rPr>
              <a:t>More than £4M raised in 2026; valuation undisclosed</a:t>
            </a:r>
          </a:p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dirty="0">
              <a:solidFill>
                <a:schemeClr val="dk1"/>
              </a:solidFill>
            </a:endParaRPr>
          </a:p>
          <a:p>
            <a:pPr marL="24130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dirty="0">
                <a:solidFill>
                  <a:schemeClr val="dk1"/>
                </a:solidFill>
              </a:rPr>
              <a:t>Call: track, not invest yet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A University of Bristol spin-out with Greek backers</a:t>
            </a:r>
            <a:endParaRPr dirty="0"/>
          </a:p>
        </p:txBody>
      </p:sp>
      <p:pic>
        <p:nvPicPr>
          <p:cNvPr id="208" name="Google Shape;208;p30" title="young-woman-wearing-white-clothes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tretch/>
        </p:blipFill>
        <p:spPr>
          <a:xfrm>
            <a:off x="4306500" y="0"/>
            <a:ext cx="4837500" cy="5143500"/>
          </a:xfrm>
          <a:prstGeom prst="roundRect">
            <a:avLst>
              <a:gd name="adj" fmla="val 19573"/>
            </a:avLst>
          </a:prstGeom>
        </p:spPr>
      </p:pic>
      <p:sp>
        <p:nvSpPr>
          <p:cNvPr id="209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>
            <a:spLocks noGrp="1"/>
          </p:cNvSpPr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AND SOLUTION</a:t>
            </a:r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subTitle" idx="3"/>
          </p:nvPr>
        </p:nvSpPr>
        <p:spPr>
          <a:xfrm>
            <a:off x="1987350" y="1756451"/>
            <a:ext cx="5169300" cy="8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Blades erode and crack. Manual checks are slow and inconsistent, so damage is found late and repairs cost more</a:t>
            </a:r>
            <a:endParaRPr dirty="0"/>
          </a:p>
        </p:txBody>
      </p:sp>
      <p:sp>
        <p:nvSpPr>
          <p:cNvPr id="227" name="Google Shape;227;p33"/>
          <p:cNvSpPr txBox="1">
            <a:spLocks noGrp="1"/>
          </p:cNvSpPr>
          <p:nvPr>
            <p:ph type="subTitle" idx="4"/>
          </p:nvPr>
        </p:nvSpPr>
        <p:spPr>
          <a:xfrm>
            <a:off x="1987350" y="3700970"/>
            <a:ext cx="5169300" cy="8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Dhalion drones capture blade images, and AI grades the damage and ranks repairs with a “Repair Now Ratio”</a:t>
            </a:r>
            <a:endParaRPr dirty="0"/>
          </a:p>
        </p:txBody>
      </p:sp>
      <p:sp>
        <p:nvSpPr>
          <p:cNvPr id="228" name="Google Shape;228;p33"/>
          <p:cNvSpPr txBox="1">
            <a:spLocks noGrp="1"/>
          </p:cNvSpPr>
          <p:nvPr>
            <p:ph type="subTitle" idx="1"/>
          </p:nvPr>
        </p:nvSpPr>
        <p:spPr>
          <a:xfrm>
            <a:off x="1987354" y="1276075"/>
            <a:ext cx="5169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subTitle" idx="2"/>
          </p:nvPr>
        </p:nvSpPr>
        <p:spPr>
          <a:xfrm>
            <a:off x="1987354" y="3220595"/>
            <a:ext cx="5169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SOLUTION</a:t>
            </a:r>
            <a:endParaRPr dirty="0"/>
          </a:p>
        </p:txBody>
      </p:sp>
      <p:sp>
        <p:nvSpPr>
          <p:cNvPr id="230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6" title="close-up-woman-working-digital-monitors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0" y="4803085"/>
            <a:ext cx="4031672" cy="3438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Sources: company site and press. Moat points are my hypotheses.</a:t>
            </a:r>
            <a:endParaRPr sz="800" dirty="0"/>
          </a:p>
        </p:txBody>
      </p:sp>
      <p:sp>
        <p:nvSpPr>
          <p:cNvPr id="264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>
            <a:spLocks noGrp="1"/>
          </p:cNvSpPr>
          <p:nvPr>
            <p:ph type="title"/>
          </p:nvPr>
        </p:nvSpPr>
        <p:spPr>
          <a:xfrm>
            <a:off x="228600" y="344189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SIZE</a:t>
            </a:r>
            <a:endParaRPr/>
          </a:p>
        </p:txBody>
      </p:sp>
      <p:graphicFrame>
        <p:nvGraphicFramePr>
          <p:cNvPr id="294" name="Google Shape;294;p38"/>
          <p:cNvGraphicFramePr/>
          <p:nvPr/>
        </p:nvGraphicFramePr>
        <p:xfrm>
          <a:off x="5300000" y="1161933"/>
          <a:ext cx="3600000" cy="2620550"/>
        </p:xfrm>
        <a:graphic>
          <a:graphicData uri="http://schemas.openxmlformats.org/drawingml/2006/table">
            <a:tbl>
              <a:tblPr>
                <a:noFill/>
                <a:tableStyleId>{EC0CFDF7-ABB7-42B0-BD29-175E4D2F782A}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Red Hat Mono"/>
                          <a:ea typeface="Red Hat Mono"/>
                          <a:cs typeface="Red Hat Mono"/>
                          <a:sym typeface="Red Hat Mono"/>
                        </a:rPr>
                        <a:t>LAYER</a:t>
                      </a:r>
                      <a:endParaRPr sz="2100">
                        <a:solidFill>
                          <a:schemeClr val="dk2"/>
                        </a:solidFill>
                        <a:latin typeface="Red Hat Mono"/>
                        <a:ea typeface="Red Hat Mono"/>
                        <a:cs typeface="Red Hat Mono"/>
                        <a:sym typeface="Red Hat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Red Hat Mono"/>
                          <a:ea typeface="Red Hat Mono"/>
                          <a:cs typeface="Red Hat Mono"/>
                          <a:sym typeface="Red Hat Mono"/>
                        </a:rPr>
                        <a:t>SIZE</a:t>
                      </a:r>
                      <a:endParaRPr sz="2100">
                        <a:solidFill>
                          <a:schemeClr val="dk2"/>
                        </a:solidFill>
                        <a:latin typeface="Red Hat Mono"/>
                        <a:ea typeface="Red Hat Mono"/>
                        <a:cs typeface="Red Hat Mono"/>
                        <a:sym typeface="Red Hat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Red Hat Mono"/>
                          <a:ea typeface="Red Hat Mono"/>
                          <a:cs typeface="Red Hat Mono"/>
                          <a:sym typeface="Red Hat Mono"/>
                        </a:rPr>
                        <a:t>BASIS</a:t>
                      </a:r>
                      <a:endParaRPr sz="2100">
                        <a:solidFill>
                          <a:schemeClr val="dk2"/>
                        </a:solidFill>
                        <a:latin typeface="Red Hat Mono"/>
                        <a:ea typeface="Red Hat Mono"/>
                        <a:cs typeface="Red Hat Mono"/>
                        <a:sym typeface="Red Hat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TAM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$8.3B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Blade inspection services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SAM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$0.65B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Wind inspection drones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SOM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~$30M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5% of SAM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5" name="Google Shape;295;p38"/>
          <p:cNvSpPr txBox="1"/>
          <p:nvPr/>
        </p:nvSpPr>
        <p:spPr>
          <a:xfrm>
            <a:off x="712567" y="3234690"/>
            <a:ext cx="15951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rPr>
              <a:t>SCOPE</a:t>
            </a:r>
            <a:endParaRPr sz="2100">
              <a:solidFill>
                <a:schemeClr val="dk2"/>
              </a:solidFill>
              <a:latin typeface="Red Hat Mono"/>
              <a:ea typeface="Red Hat Mono"/>
              <a:cs typeface="Red Hat Mono"/>
              <a:sym typeface="Red Hat Mono"/>
            </a:endParaRPr>
          </a:p>
        </p:txBody>
      </p:sp>
      <p:sp>
        <p:nvSpPr>
          <p:cNvPr id="296" name="Google Shape;296;p38"/>
          <p:cNvSpPr txBox="1"/>
          <p:nvPr/>
        </p:nvSpPr>
        <p:spPr>
          <a:xfrm>
            <a:off x="712567" y="3498783"/>
            <a:ext cx="15951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Services market is 13x the drone market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3155242" y="3234690"/>
            <a:ext cx="15951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rPr>
              <a:t>SOM</a:t>
            </a:r>
            <a:endParaRPr sz="2100">
              <a:solidFill>
                <a:schemeClr val="dk2"/>
              </a:solidFill>
              <a:latin typeface="Red Hat Mono"/>
              <a:ea typeface="Red Hat Mono"/>
              <a:cs typeface="Red Hat Mono"/>
              <a:sym typeface="Red Hat Mono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3155243" y="3498715"/>
            <a:ext cx="15951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My assumption, not company data. Validate with operator calls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9" name="Google Shape;299;p38"/>
          <p:cNvSpPr txBox="1"/>
          <p:nvPr/>
        </p:nvSpPr>
        <p:spPr>
          <a:xfrm>
            <a:off x="0" y="4870517"/>
            <a:ext cx="4325580" cy="272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Sources: NextMSC, 360iResearch via GII. Estimates differ by definition; do not add them up</a:t>
            </a:r>
            <a:endParaRPr sz="800" b="1" u="sng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0" name="Google Shape;300;p38"/>
          <p:cNvSpPr/>
          <p:nvPr/>
        </p:nvSpPr>
        <p:spPr>
          <a:xfrm rot="-5400000">
            <a:off x="370873" y="3629775"/>
            <a:ext cx="502200" cy="10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38"/>
          <p:cNvSpPr/>
          <p:nvPr/>
        </p:nvSpPr>
        <p:spPr>
          <a:xfrm rot="-5400000">
            <a:off x="2813559" y="3629775"/>
            <a:ext cx="502200" cy="100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2" name="Google Shape;302;p38" title="Chart">
            <a:hlinkClick r:id="rId2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68" y="800432"/>
            <a:ext cx="4920485" cy="216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Background with pixel numbers" descr="Gradient background with years and step numbers in pixel type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68" name="Google Shape;268;p37"/>
          <p:cNvSpPr txBox="1">
            <a:spLocks noGrp="1"/>
          </p:cNvSpPr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TRACTION AND FUNDING</a:t>
            </a:r>
            <a:endParaRPr/>
          </a:p>
        </p:txBody>
      </p:sp>
      <p:sp>
        <p:nvSpPr>
          <p:cNvPr id="269" name="Google Shape;269;p37"/>
          <p:cNvSpPr txBox="1"/>
          <p:nvPr/>
        </p:nvSpPr>
        <p:spPr>
          <a:xfrm>
            <a:off x="5062983" y="1406907"/>
            <a:ext cx="34851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Founded by three University of Bristol engineering students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70" name="Google Shape;270;p37"/>
          <p:cNvCxnSpPr>
            <a:stCxn id="271" idx="3"/>
            <a:endCxn id="272" idx="2"/>
          </p:cNvCxnSpPr>
          <p:nvPr/>
        </p:nvCxnSpPr>
        <p:spPr>
          <a:xfrm>
            <a:off x="1757288" y="1652755"/>
            <a:ext cx="2321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7"/>
          <p:cNvCxnSpPr>
            <a:stCxn id="272" idx="6"/>
            <a:endCxn id="269" idx="1"/>
          </p:cNvCxnSpPr>
          <p:nvPr/>
        </p:nvCxnSpPr>
        <p:spPr>
          <a:xfrm>
            <a:off x="4505755" y="1652770"/>
            <a:ext cx="55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75" name="Google Shape;275;p37"/>
          <p:cNvSpPr txBox="1"/>
          <p:nvPr/>
        </p:nvSpPr>
        <p:spPr>
          <a:xfrm>
            <a:off x="342396" y="2233782"/>
            <a:ext cx="3422116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Athens base opens; €0.6M from Metavallon VC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76" name="Google Shape;276;p37"/>
          <p:cNvCxnSpPr>
            <a:stCxn id="277" idx="1"/>
            <a:endCxn id="274" idx="6"/>
          </p:cNvCxnSpPr>
          <p:nvPr/>
        </p:nvCxnSpPr>
        <p:spPr>
          <a:xfrm rot="10800000">
            <a:off x="4505813" y="2479674"/>
            <a:ext cx="1528800" cy="2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37"/>
          <p:cNvCxnSpPr>
            <a:cxnSpLocks/>
            <a:endCxn id="275" idx="3"/>
          </p:cNvCxnSpPr>
          <p:nvPr/>
        </p:nvCxnSpPr>
        <p:spPr>
          <a:xfrm flipV="1">
            <a:off x="3739324" y="2479632"/>
            <a:ext cx="25188" cy="13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79" name="Google Shape;279;p37"/>
          <p:cNvSpPr txBox="1"/>
          <p:nvPr/>
        </p:nvSpPr>
        <p:spPr>
          <a:xfrm>
            <a:off x="5062983" y="3060657"/>
            <a:ext cx="34851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£1.6M led by TSP Ventures; Brookstreet and Susten follow in 2023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80" name="Google Shape;280;p37"/>
          <p:cNvCxnSpPr>
            <a:stCxn id="281" idx="3"/>
            <a:endCxn id="282" idx="2"/>
          </p:cNvCxnSpPr>
          <p:nvPr/>
        </p:nvCxnSpPr>
        <p:spPr>
          <a:xfrm rot="10800000" flipH="1">
            <a:off x="1757288" y="3306562"/>
            <a:ext cx="2321400" cy="4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37"/>
          <p:cNvCxnSpPr>
            <a:stCxn id="282" idx="6"/>
            <a:endCxn id="279" idx="1"/>
          </p:cNvCxnSpPr>
          <p:nvPr/>
        </p:nvCxnSpPr>
        <p:spPr>
          <a:xfrm>
            <a:off x="4505755" y="3306520"/>
            <a:ext cx="55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85" name="Google Shape;285;p37"/>
          <p:cNvSpPr txBox="1"/>
          <p:nvPr/>
        </p:nvSpPr>
        <p:spPr>
          <a:xfrm>
            <a:off x="595912" y="3922895"/>
            <a:ext cx="31686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£4M+ from Loggerhead, One Planet Capital and Investing for Purpose. 18+ countries, 1M+ images (company-reported)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86" name="Google Shape;286;p37"/>
          <p:cNvCxnSpPr>
            <a:stCxn id="287" idx="1"/>
            <a:endCxn id="284" idx="6"/>
          </p:cNvCxnSpPr>
          <p:nvPr/>
        </p:nvCxnSpPr>
        <p:spPr>
          <a:xfrm rot="10800000">
            <a:off x="4505813" y="4168753"/>
            <a:ext cx="15288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7"/>
          <p:cNvCxnSpPr>
            <a:cxnSpLocks/>
            <a:stCxn id="284" idx="2"/>
            <a:endCxn id="285" idx="3"/>
          </p:cNvCxnSpPr>
          <p:nvPr/>
        </p:nvCxnSpPr>
        <p:spPr>
          <a:xfrm rot="10800000">
            <a:off x="3764455" y="4168757"/>
            <a:ext cx="314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89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6" title="close-up-woman-working-digital-monitors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0" y="4819335"/>
            <a:ext cx="2618509" cy="3113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Sources: company site and press coverage</a:t>
            </a:r>
            <a:endParaRPr sz="800" dirty="0"/>
          </a:p>
        </p:txBody>
      </p:sp>
      <p:sp>
        <p:nvSpPr>
          <p:cNvPr id="264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>
            <a:spLocks noGrp="1"/>
          </p:cNvSpPr>
          <p:nvPr>
            <p:ph type="title"/>
          </p:nvPr>
        </p:nvSpPr>
        <p:spPr>
          <a:xfrm>
            <a:off x="228600" y="344189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COMPETITIVE LANDSCAPE</a:t>
            </a:r>
            <a:endParaRPr/>
          </a:p>
        </p:txBody>
      </p:sp>
      <p:graphicFrame>
        <p:nvGraphicFramePr>
          <p:cNvPr id="294" name="Google Shape;294;p38"/>
          <p:cNvGraphicFramePr/>
          <p:nvPr/>
        </p:nvGraphicFramePr>
        <p:xfrm>
          <a:off x="500000" y="1060000"/>
          <a:ext cx="8100000" cy="3352460"/>
        </p:xfrm>
        <a:graphic>
          <a:graphicData uri="http://schemas.openxmlformats.org/drawingml/2006/table">
            <a:tbl>
              <a:tblPr>
                <a:noFill/>
                <a:tableStyleId>{EC0CFDF7-ABB7-42B0-BD29-175E4D2F782A}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Red Hat Mono"/>
                          <a:ea typeface="Red Hat Mono"/>
                          <a:cs typeface="Red Hat Mono"/>
                          <a:sym typeface="Red Hat Mono"/>
                        </a:rPr>
                        <a:t>COMPANY</a:t>
                      </a:r>
                      <a:endParaRPr sz="2100">
                        <a:solidFill>
                          <a:schemeClr val="dk2"/>
                        </a:solidFill>
                        <a:latin typeface="Red Hat Mono"/>
                        <a:ea typeface="Red Hat Mono"/>
                        <a:cs typeface="Red Hat Mono"/>
                        <a:sym typeface="Red Hat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Red Hat Mono"/>
                          <a:ea typeface="Red Hat Mono"/>
                          <a:cs typeface="Red Hat Mono"/>
                          <a:sym typeface="Red Hat Mono"/>
                        </a:rPr>
                        <a:t>APPROACH</a:t>
                      </a:r>
                      <a:endParaRPr sz="2100">
                        <a:solidFill>
                          <a:schemeClr val="dk2"/>
                        </a:solidFill>
                        <a:latin typeface="Red Hat Mono"/>
                        <a:ea typeface="Red Hat Mono"/>
                        <a:cs typeface="Red Hat Mono"/>
                        <a:sym typeface="Red Hat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Red Hat Mono"/>
                          <a:ea typeface="Red Hat Mono"/>
                          <a:cs typeface="Red Hat Mono"/>
                          <a:sym typeface="Red Hat Mono"/>
                        </a:rPr>
                        <a:t>FUNDING</a:t>
                      </a:r>
                      <a:endParaRPr sz="2100">
                        <a:solidFill>
                          <a:schemeClr val="dk2"/>
                        </a:solidFill>
                        <a:latin typeface="Red Hat Mono"/>
                        <a:ea typeface="Red Hat Mono"/>
                        <a:cs typeface="Red Hat Mono"/>
                        <a:sym typeface="Red Hat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Red Hat Mono"/>
                          <a:ea typeface="Red Hat Mono"/>
                          <a:cs typeface="Red Hat Mono"/>
                          <a:sym typeface="Red Hat Mono"/>
                        </a:rPr>
                        <a:t>THREAT</a:t>
                      </a:r>
                      <a:endParaRPr sz="2100">
                        <a:solidFill>
                          <a:schemeClr val="dk2"/>
                        </a:solidFill>
                        <a:latin typeface="Red Hat Mono"/>
                        <a:ea typeface="Red Hat Mono"/>
                        <a:cs typeface="Red Hat Mono"/>
                        <a:sym typeface="Red Hat Mon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SkySpecs (US)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Drones plus Horizon software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$140M total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High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Aerones (Latvia)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Robots that inspect, clean, repair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$174.5M total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Medium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BladeBUG (UK)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Crawler robot on the blade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Not checked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Low to medium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Nearthlab, ProDrone, Clobotics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Drone and AI inspection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Not checked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Medium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Perceptual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Drones, AI, services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£4M+ in 2026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Subject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9" name="Google Shape;299;p38"/>
          <p:cNvSpPr txBox="1"/>
          <p:nvPr/>
        </p:nvSpPr>
        <p:spPr>
          <a:xfrm>
            <a:off x="-28198" y="4931719"/>
            <a:ext cx="5219839" cy="18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Funding from CB Insights and company claims, not verified. Rivals marked “not checked” were not researched</a:t>
            </a:r>
            <a:endParaRPr sz="800" b="1" u="sng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0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>
            <a:spLocks noGrp="1"/>
          </p:cNvSpPr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pic>
        <p:nvPicPr>
          <p:cNvPr id="226" name="Founder photo 1" descr="Black and white portrait of Kostas Karachali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00" y="1050000"/>
            <a:ext cx="1330000" cy="1330000"/>
          </a:xfrm>
          <a:prstGeom prst="rect">
            <a:avLst/>
          </a:prstGeom>
        </p:spPr>
      </p:pic>
      <p:sp>
        <p:nvSpPr>
          <p:cNvPr id="227" name="Google Shape;228;p33"/>
          <p:cNvSpPr txBox="1">
            <a:spLocks noGrp="1"/>
          </p:cNvSpPr>
          <p:nvPr>
            <p:ph type="subTitle" idx="1"/>
          </p:nvPr>
        </p:nvSpPr>
        <p:spPr>
          <a:xfrm>
            <a:off x="250000" y="2470000"/>
            <a:ext cx="2800000" cy="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KOSTAS KARACHALIOS</a:t>
            </a:r>
            <a:endParaRPr sz="1500"/>
          </a:p>
        </p:txBody>
      </p:sp>
      <p:sp>
        <p:nvSpPr>
          <p:cNvPr id="228" name="Google Shape;226;p33"/>
          <p:cNvSpPr txBox="1">
            <a:spLocks noGrp="1"/>
          </p:cNvSpPr>
          <p:nvPr>
            <p:ph type="subTitle" idx="3"/>
          </p:nvPr>
        </p:nvSpPr>
        <p:spPr>
          <a:xfrm>
            <a:off x="250000" y="2800000"/>
            <a:ext cx="2800000" cy="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CEO and co-founder</a:t>
            </a:r>
            <a:endParaRPr/>
          </a:p>
        </p:txBody>
      </p:sp>
      <p:pic>
        <p:nvPicPr>
          <p:cNvPr id="229" name="Founder photo 2" descr="Black and white portrait of Dimitris Nikolaid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000" y="1050000"/>
            <a:ext cx="1330000" cy="1330000"/>
          </a:xfrm>
          <a:prstGeom prst="rect">
            <a:avLst/>
          </a:prstGeom>
        </p:spPr>
      </p:pic>
      <p:sp>
        <p:nvSpPr>
          <p:cNvPr id="230" name="Google Shape;228;p33"/>
          <p:cNvSpPr txBox="1">
            <a:spLocks noGrp="1"/>
          </p:cNvSpPr>
          <p:nvPr>
            <p:ph type="subTitle" idx="1"/>
          </p:nvPr>
        </p:nvSpPr>
        <p:spPr>
          <a:xfrm>
            <a:off x="3172000" y="2470000"/>
            <a:ext cx="2800000" cy="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DIMITRIS NIKOLAIDIS</a:t>
            </a:r>
            <a:endParaRPr sz="1500"/>
          </a:p>
        </p:txBody>
      </p:sp>
      <p:sp>
        <p:nvSpPr>
          <p:cNvPr id="231" name="Google Shape;226;p33"/>
          <p:cNvSpPr txBox="1">
            <a:spLocks noGrp="1"/>
          </p:cNvSpPr>
          <p:nvPr>
            <p:ph type="subTitle" idx="3"/>
          </p:nvPr>
        </p:nvSpPr>
        <p:spPr>
          <a:xfrm>
            <a:off x="3172000" y="2800000"/>
            <a:ext cx="2800000" cy="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 and co-founder</a:t>
            </a:r>
            <a:endParaRPr/>
          </a:p>
        </p:txBody>
      </p:sp>
      <p:pic>
        <p:nvPicPr>
          <p:cNvPr id="232" name="Founder photo 3" descr="Black and white portrait of Kevin Li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000" y="1050000"/>
            <a:ext cx="1330000" cy="1330000"/>
          </a:xfrm>
          <a:prstGeom prst="rect">
            <a:avLst/>
          </a:prstGeom>
        </p:spPr>
      </p:pic>
      <p:sp>
        <p:nvSpPr>
          <p:cNvPr id="233" name="Google Shape;228;p33"/>
          <p:cNvSpPr txBox="1">
            <a:spLocks noGrp="1"/>
          </p:cNvSpPr>
          <p:nvPr>
            <p:ph type="subTitle" idx="1"/>
          </p:nvPr>
        </p:nvSpPr>
        <p:spPr>
          <a:xfrm>
            <a:off x="6094000" y="2470000"/>
            <a:ext cx="2800000" cy="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KEVIN LIND</a:t>
            </a:r>
            <a:endParaRPr sz="1500"/>
          </a:p>
        </p:txBody>
      </p:sp>
      <p:sp>
        <p:nvSpPr>
          <p:cNvPr id="234" name="Google Shape;226;p33"/>
          <p:cNvSpPr txBox="1">
            <a:spLocks noGrp="1"/>
          </p:cNvSpPr>
          <p:nvPr>
            <p:ph type="subTitle" idx="3"/>
          </p:nvPr>
        </p:nvSpPr>
        <p:spPr>
          <a:xfrm>
            <a:off x="6094000" y="2800000"/>
            <a:ext cx="2800000" cy="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CTO and co-founder</a:t>
            </a:r>
            <a:endParaRPr/>
          </a:p>
        </p:txBody>
      </p:sp>
      <p:sp>
        <p:nvSpPr>
          <p:cNvPr id="235" name="Google Shape;226;p33"/>
          <p:cNvSpPr txBox="1">
            <a:spLocks noGrp="1"/>
          </p:cNvSpPr>
          <p:nvPr>
            <p:ph type="subTitle" idx="3"/>
          </p:nvPr>
        </p:nvSpPr>
        <p:spPr>
          <a:xfrm>
            <a:off x="1471851" y="3642278"/>
            <a:ext cx="6022149" cy="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Backers: Metavallon VC, TSP Ventures, Loggerhead, One Planet Capital, Investing for  Purpose. </a:t>
            </a:r>
            <a:r>
              <a:rPr lang="en-US" dirty="0" err="1"/>
              <a:t>Susten</a:t>
            </a:r>
            <a:r>
              <a:rPr lang="en-US" dirty="0"/>
              <a:t> sits on the board. Gap: no named sales or ML lead.</a:t>
            </a:r>
          </a:p>
        </p:txBody>
      </p:sp>
      <p:sp>
        <p:nvSpPr>
          <p:cNvPr id="236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79C41-1CD7-3074-69CA-D50D1A93FD81}"/>
              </a:ext>
            </a:extLst>
          </p:cNvPr>
          <p:cNvSpPr txBox="1"/>
          <p:nvPr/>
        </p:nvSpPr>
        <p:spPr>
          <a:xfrm>
            <a:off x="0" y="4884556"/>
            <a:ext cx="15167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800" dirty="0"/>
              <a:t>Photos: Perceptual Robotics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6" title="close-up-woman-working-digital-monitors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0" y="4860000"/>
            <a:ext cx="2776847" cy="2836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Placement is my judgment, not company data</a:t>
            </a:r>
            <a:endParaRPr sz="800" dirty="0"/>
          </a:p>
        </p:txBody>
      </p:sp>
      <p:sp>
        <p:nvSpPr>
          <p:cNvPr id="264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>
            <a:spLocks noGrp="1"/>
          </p:cNvSpPr>
          <p:nvPr>
            <p:ph type="title"/>
          </p:nvPr>
        </p:nvSpPr>
        <p:spPr>
          <a:xfrm>
            <a:off x="228600" y="344189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SCREENING MODEL SCORES</a:t>
            </a:r>
            <a:endParaRPr/>
          </a:p>
        </p:txBody>
      </p:sp>
      <p:graphicFrame>
        <p:nvGraphicFramePr>
          <p:cNvPr id="294" name="Google Shape;294;p38"/>
          <p:cNvGraphicFramePr/>
          <p:nvPr/>
        </p:nvGraphicFramePr>
        <p:xfrm>
          <a:off x="5300000" y="1161933"/>
          <a:ext cx="3600000" cy="3080550"/>
        </p:xfrm>
        <a:graphic>
          <a:graphicData uri="http://schemas.openxmlformats.org/drawingml/2006/table">
            <a:tbl>
              <a:tblPr>
                <a:noFill/>
                <a:tableStyleId>{EC0CFDF7-ABB7-42B0-BD29-175E4D2F782A}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Red Hat Mono"/>
                          <a:ea typeface="Red Hat Mono"/>
                          <a:cs typeface="Red Hat Mono"/>
                          <a:sym typeface="Red Hat Mono"/>
                        </a:rPr>
                        <a:t>MODEL</a:t>
                      </a:r>
                      <a:endParaRPr sz="2100">
                        <a:solidFill>
                          <a:schemeClr val="dk2"/>
                        </a:solidFill>
                        <a:latin typeface="Red Hat Mono"/>
                        <a:ea typeface="Red Hat Mono"/>
                        <a:cs typeface="Red Hat Mono"/>
                        <a:sym typeface="Red Hat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Red Hat Mono"/>
                          <a:ea typeface="Red Hat Mono"/>
                          <a:cs typeface="Red Hat Mono"/>
                          <a:sym typeface="Red Hat Mono"/>
                        </a:rPr>
                        <a:t>LOGIT</a:t>
                      </a:r>
                      <a:endParaRPr sz="2100">
                        <a:solidFill>
                          <a:schemeClr val="dk2"/>
                        </a:solidFill>
                        <a:latin typeface="Red Hat Mono"/>
                        <a:ea typeface="Red Hat Mono"/>
                        <a:cs typeface="Red Hat Mono"/>
                        <a:sym typeface="Red Hat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Red Hat Mono"/>
                          <a:ea typeface="Red Hat Mono"/>
                          <a:cs typeface="Red Hat Mono"/>
                          <a:sym typeface="Red Hat Mono"/>
                        </a:rPr>
                        <a:t>FOREST</a:t>
                      </a:r>
                      <a:endParaRPr sz="2100">
                        <a:solidFill>
                          <a:schemeClr val="dk2"/>
                        </a:solidFill>
                        <a:latin typeface="Red Hat Mono"/>
                        <a:ea typeface="Red Hat Mono"/>
                        <a:cs typeface="Red Hat Mono"/>
                        <a:sym typeface="Red Hat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ACCURACY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71%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69%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AUC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0.70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0.70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BASE CASE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38%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59%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RANGE</a:t>
                      </a:r>
                      <a:endParaRPr b="1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29%-68%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55%-70%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5" name="Google Shape;295;p38"/>
          <p:cNvSpPr txBox="1"/>
          <p:nvPr/>
        </p:nvSpPr>
        <p:spPr>
          <a:xfrm>
            <a:off x="729734" y="3439430"/>
            <a:ext cx="15951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rPr>
              <a:t>SCORE</a:t>
            </a:r>
            <a:endParaRPr sz="2100">
              <a:solidFill>
                <a:schemeClr val="dk2"/>
              </a:solidFill>
              <a:latin typeface="Red Hat Mono"/>
              <a:ea typeface="Red Hat Mono"/>
              <a:cs typeface="Red Hat Mono"/>
              <a:sym typeface="Red Hat Mono"/>
            </a:endParaRPr>
          </a:p>
        </p:txBody>
      </p:sp>
      <p:sp>
        <p:nvSpPr>
          <p:cNvPr id="296" name="Google Shape;296;p38"/>
          <p:cNvSpPr txBox="1"/>
          <p:nvPr/>
        </p:nvSpPr>
        <p:spPr>
          <a:xfrm>
            <a:off x="729734" y="3703523"/>
            <a:ext cx="15951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Base case averages 49%, below the 65% dataset average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3172409" y="3439430"/>
            <a:ext cx="15951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rPr>
              <a:t>TRUST</a:t>
            </a:r>
            <a:endParaRPr sz="2100">
              <a:solidFill>
                <a:schemeClr val="dk2"/>
              </a:solidFill>
              <a:latin typeface="Red Hat Mono"/>
              <a:ea typeface="Red Hat Mono"/>
              <a:cs typeface="Red Hat Mono"/>
              <a:sym typeface="Red Hat Mono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3172410" y="3703455"/>
            <a:ext cx="15951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Close to guessing: sector alone moves it from 49% to 69%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9" name="Google Shape;299;p38"/>
          <p:cNvSpPr txBox="1"/>
          <p:nvPr/>
        </p:nvSpPr>
        <p:spPr>
          <a:xfrm>
            <a:off x="-79329" y="4913499"/>
            <a:ext cx="5203192" cy="23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Source: Perceptual_Robotics_Screening_Model.ipynb. 923 US startups; inputs estimated from public sources</a:t>
            </a:r>
            <a:endParaRPr sz="800" b="1" u="sng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0" name="Google Shape;300;p38"/>
          <p:cNvSpPr/>
          <p:nvPr/>
        </p:nvSpPr>
        <p:spPr>
          <a:xfrm rot="-5400000">
            <a:off x="388040" y="3834515"/>
            <a:ext cx="502200" cy="10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38"/>
          <p:cNvSpPr/>
          <p:nvPr/>
        </p:nvSpPr>
        <p:spPr>
          <a:xfrm rot="-5400000">
            <a:off x="2830726" y="3834515"/>
            <a:ext cx="502200" cy="100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2" name="Google Shape;302;p38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008095"/>
            <a:ext cx="4920485" cy="216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1417350" y="910088"/>
            <a:ext cx="5262000" cy="15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DECISION: TRACK</a:t>
            </a:r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subTitle" idx="1"/>
          </p:nvPr>
        </p:nvSpPr>
        <p:spPr>
          <a:xfrm>
            <a:off x="1417350" y="2615513"/>
            <a:ext cx="6309300" cy="16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Track, don’t invest yet. Illustrative return on $3M at a $25M valuation: 0.6x bear, 3.0x base, 12x bull. Three gaps decide it: revenue and margin by line, proof the AI works on any drone, and a valuation.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Next: call 3 to 5 wind operators, benchmark its detection against SkySpecs, and request the cap table and runway.</a:t>
            </a:r>
            <a:endParaRPr dirty="0"/>
          </a:p>
        </p:txBody>
      </p:sp>
      <p:sp>
        <p:nvSpPr>
          <p:cNvPr id="221" name="Footer signature"/>
          <p:cNvSpPr txBox="1"/>
          <p:nvPr/>
        </p:nvSpPr>
        <p:spPr>
          <a:xfrm>
            <a:off x="6900000" y="486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" sz="900" b="0">
                <a:solidFill>
                  <a:srgbClr val="222222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>
            <a:spLocks noGrp="1"/>
          </p:cNvSpPr>
          <p:nvPr>
            <p:ph type="title"/>
          </p:nvPr>
        </p:nvSpPr>
        <p:spPr>
          <a:xfrm>
            <a:off x="1163850" y="1130000"/>
            <a:ext cx="3578100" cy="67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16" name="Google Shape;316;p40"/>
          <p:cNvSpPr txBox="1">
            <a:spLocks noGrp="1"/>
          </p:cNvSpPr>
          <p:nvPr>
            <p:ph type="subTitle" idx="1"/>
          </p:nvPr>
        </p:nvSpPr>
        <p:spPr>
          <a:xfrm>
            <a:off x="1163850" y="1862912"/>
            <a:ext cx="28182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 and feedback welcome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Gerald Velas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g.vela@acg.edu</a:t>
            </a:r>
            <a:br>
              <a:rPr lang="en-US" dirty="0"/>
            </a:br>
            <a:endParaRPr dirty="0"/>
          </a:p>
        </p:txBody>
      </p:sp>
      <p:grpSp>
        <p:nvGrpSpPr>
          <p:cNvPr id="321" name="Google Shape;321;p40"/>
          <p:cNvGrpSpPr/>
          <p:nvPr/>
        </p:nvGrpSpPr>
        <p:grpSpPr>
          <a:xfrm>
            <a:off x="6714999" y="3964750"/>
            <a:ext cx="243598" cy="224964"/>
            <a:chOff x="3824739" y="3890112"/>
            <a:chExt cx="208105" cy="186110"/>
          </a:xfrm>
        </p:grpSpPr>
        <p:sp>
          <p:nvSpPr>
            <p:cNvPr id="322" name="Google Shape;322;p40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0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0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8442D8C-F6F8-0F49-765A-460E643D33C1}"/>
              </a:ext>
            </a:extLst>
          </p:cNvPr>
          <p:cNvSpPr txBox="1"/>
          <p:nvPr/>
        </p:nvSpPr>
        <p:spPr>
          <a:xfrm>
            <a:off x="6900000" y="3968386"/>
            <a:ext cx="1199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/</a:t>
            </a:r>
            <a:r>
              <a:rPr lang="en-US" dirty="0" err="1">
                <a:latin typeface="Archivo" panose="020B0604020202020204" charset="0"/>
                <a:cs typeface="Archivo" panose="020B0604020202020204" charset="0"/>
              </a:rPr>
              <a:t>geraldvelas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Trends 2026 by Slidesgo">
  <a:themeElements>
    <a:clrScheme name="Simple Light">
      <a:dk1>
        <a:srgbClr val="222222"/>
      </a:dk1>
      <a:lt1>
        <a:srgbClr val="F8F8F8"/>
      </a:lt1>
      <a:dk2>
        <a:srgbClr val="222222"/>
      </a:dk2>
      <a:lt2>
        <a:srgbClr val="22222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2222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589</Words>
  <Application>Microsoft Office PowerPoint</Application>
  <PresentationFormat>On-screen Show (16:9)</PresentationFormat>
  <Paragraphs>120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Red Hat Mono</vt:lpstr>
      <vt:lpstr>Inter</vt:lpstr>
      <vt:lpstr>Open Sans</vt:lpstr>
      <vt:lpstr>Arial</vt:lpstr>
      <vt:lpstr>Raleway</vt:lpstr>
      <vt:lpstr>Archivo</vt:lpstr>
      <vt:lpstr>VT323</vt:lpstr>
      <vt:lpstr>Darker Grotesque SemiBold</vt:lpstr>
      <vt:lpstr>Tech Trends 2026 by Slidesgo</vt:lpstr>
      <vt:lpstr>Slidesgo Final Pages</vt:lpstr>
      <vt:lpstr>PERCEPTUAL ROBOTICS</vt:lpstr>
      <vt:lpstr>PERCEPTUAL ROBOTICS AT A GLANCE</vt:lpstr>
      <vt:lpstr>PROBLEM AND SOLUTION</vt:lpstr>
      <vt:lpstr>Sources: company site and press. Moat points are my hypotheses.</vt:lpstr>
      <vt:lpstr>MARKET SIZE</vt:lpstr>
      <vt:lpstr>TRACTION AND FUNDING</vt:lpstr>
      <vt:lpstr>Sources: company site and press coverage</vt:lpstr>
      <vt:lpstr>COMPETITIVE LANDSCAPE</vt:lpstr>
      <vt:lpstr>THE TEAM</vt:lpstr>
      <vt:lpstr>Placement is my judgment, not company data</vt:lpstr>
      <vt:lpstr>SCREENING MODEL SCORES</vt:lpstr>
      <vt:lpstr>DECISION: TRACK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Gerald Velas</cp:lastModifiedBy>
  <cp:revision>6</cp:revision>
  <dcterms:modified xsi:type="dcterms:W3CDTF">2026-10-16T12:46:38Z</dcterms:modified>
  <dc:creator>Gerald Velas</dc:creator>
</cp:coreProperties>
</file>